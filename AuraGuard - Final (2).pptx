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22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Say plainly: this already runs against a real camera on our network, not a mock-up.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gap: recording continues regardless of quality. The system has no sense of its own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sentences, really: learn locally, confirm before alerting, explain the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right, then stop on the bottom line — that is the point of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contract is why this scales — a new detector is a drop-in, not a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first one. That is the genuinely novel piece — the rest follows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word 'synthetic' out loud. If a judge asks about real-camera testing, the honest answer is: not yet, and that is the next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last line, then stop talking and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488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AuraGuard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that notices when it stops seeing properly.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31089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live camera feeds and generating SMS alerts on deliberate tampering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against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95360" y="26060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Dahua IP camera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Library, Camera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3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rtsp  ·  172.16.10.235:554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83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channel=1  subtype=0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04672" y="129844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systems record continuously. Nobody reliably watches whether the recording is still any good.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22128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560320" y="23408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 year of feeds streamed into central monitoring stations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3558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560320" y="34838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an operator is watching at the moment quality degrades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4988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60320" y="46268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footage keeps recording — degraded or not — with nobody the wiser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2194560"/>
            <a:ext cx="0" cy="320040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goes unnoticed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01000" y="2788920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an unchanging screen is a task humans are measurably bad at — attention decays within minutes.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is quiet by design. A smeared lens or a nudged mount looks like nothing on a wall of monitors.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surfaces only when the footage is finally needed — and is useless.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04672" y="129844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that learns what normal looks like for itself, then says plainly when normal breaks.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216712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50876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learns on site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937760" y="2167128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calibration window builds a baseline of brightness, sharpness, edge density and histogram shape for that one camera. No pre-trained model. No labelled dataset. No cloud.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3291840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5204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3502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waits before it speaks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937760" y="352044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detector must watch the anomaly hold steady across a run of consecutive frames before it fires. A bird, a bump, a passing shadow — none of them survive that wait.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645152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87375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48554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explains itself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937760" y="4873752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carries the reason, not a code. Sharpness at 38% of baseline, held 5.2 seconds. The technician knows what to bring before leaving the desk.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detectors today — defocus, occlusion, brightness shift, camera position drift.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04672" y="129844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RTSP packet to a phone buzzing in a technician's pocket.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54203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pull from the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Dahua stream, with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auto-reconnect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0" y="2304288"/>
            <a:ext cx="0" cy="155448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0088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90088" y="254203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990088" y="29718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seconds learns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brightness,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sharpness, keypoints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56048" y="2304288"/>
            <a:ext cx="0" cy="155448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02936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02936" y="254203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202936" y="29718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scored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all four detectors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that baseline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68896" y="2304288"/>
            <a:ext cx="0" cy="155448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15784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15784" y="254203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415784" y="29718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and stability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reject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81744" y="2304288"/>
            <a:ext cx="0" cy="155448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28632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28632" y="254203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628632" y="29718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with evidence,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cooldown to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alert storms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4434840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waiting is the whole trick.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937760" y="466344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anomaly has to clear the threshold and then hold still. Large movement with a lot of scatter is vibration, not tampering — so it is discarded rather than escalated. That single rule is what stops the system crying wolf at every passing shadow.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04672" y="129844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are independent modules behind one shared contract — adding a fifth changes nothing upstream.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9572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client · frame buffer · reconnect supervisor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2816352"/>
            <a:ext cx="7223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71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6440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AdaptiveBaseline — running averages of brightness, sharpness, edge density, histogram, reference keypoints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685032"/>
            <a:ext cx="7223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730752"/>
            <a:ext cx="7360920" cy="786384"/>
          </a:xfrm>
          <a:prstGeom prst="roundRect">
            <a:avLst>
              <a:gd name="adj" fmla="val 6977"/>
            </a:avLst>
          </a:prstGeom>
          <a:solidFill>
            <a:srgbClr val="F4F2E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40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13308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BlurDetector · OcclusionDetector · BrightnessDetector · CameraPositionDetector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4709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+ gate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500176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aggregation · streak counter · stability check · cooldown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5422392"/>
            <a:ext cx="7223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577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87044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dispatch · evidence formatting · alert log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49640" y="2057400"/>
            <a:ext cx="0" cy="356616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shared contract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961120" y="26060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signal_name : str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triggered   : bool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 : float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   : str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        : list|None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61120" y="416052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detector returns this same shape, so the layer above never needs to know which one spoke.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different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Sustained, not instant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937760" y="1801368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tamper alarms fire the moment a threshold is crossed. Ours waits for the anomaly to settle — it has to be both large and steady. Shake, bumps and passers-by are excluded by the design, not filtered out afterwards.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843784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0449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measured in degrees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37760" y="306324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movement is reported as an actual angle — 8.4° right, 5.1° down — recovered from ORB keypoints and a RANSAC homography, rather than a vague flag that something changed.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4105656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3068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for a person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4325112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phrased for whoever reads them at two in the morning: the symptom, the size of it, and how long it lasted.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5367528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5686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to train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5586984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comes from the camera's own first few seconds. Moving to a new site is a restart, not a retraining exercise.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04672" y="129844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synthetic clips with known ground-truth rotations.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724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2834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pan error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1455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twelve known rotations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484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34840" y="2834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rotations detected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31455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missed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92440" y="2057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092440" y="2834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false-alarm controls held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31455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motion, sensor noise,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and bumps — all rejected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977640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camera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5902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pipeline is Dahua-specific. If it speaks RTSP, it works.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hardware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45902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computer vision throughout — no GPU, no inference server, no cloud round-trip.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thresholds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6418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 traces back to a measured quantity, so it can be explained and tuned.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5349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on bandwidth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56418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just as well on the sub-stream when the network is under pressure.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changes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operator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 of monitors stops being a vigilance task.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goes to incidents rather than to inspecting picture quality.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depends on somebody happening to notice.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33672" y="1874520"/>
            <a:ext cx="0" cy="265176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348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technician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434840" y="237744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what broke and by how much, before leaving the desk.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cooldown keeps one fault from flooding the phone.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surface in minutes rather than at the next audit.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91272" y="1874520"/>
            <a:ext cx="0" cy="265176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organisation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92440" y="237744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Footage stays usable because degradation is caught while it is happening.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becomes an event with a timestamp against it.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monitoring station can cover more cameras.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5120640"/>
            <a:ext cx="1065276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camera stops being something you have to watch, and becomes something that tells you when it needs you.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architecture, in full</a:t>
            </a:r>
            <a:endParaRPr lang="en-US" sz="3800" dirty="0"/>
          </a:p>
        </p:txBody>
      </p:sp>
      <p:sp>
        <p:nvSpPr>
          <p:cNvPr id="3" name="Text 3"/>
          <p:cNvSpPr/>
          <p:nvPr/>
        </p:nvSpPr>
        <p:spPr>
          <a:xfrm>
            <a:off x="804672" y="12984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Physical, digital, and quality trust run in parallel on every frame, before fusion and escalation.</a:t>
            </a:r>
            <a:endParaRPr lang="en-US" sz="1450" dirty="0"/>
          </a:p>
        </p:txBody>
      </p:sp>
      <p:sp>
        <p:nvSpPr>
          <p:cNvPr id="4" name="Shape 4"/>
          <p:cNvSpPr/>
          <p:nvPr/>
        </p:nvSpPr>
        <p:spPr>
          <a:xfrm>
            <a:off x="3534156" y="1755648"/>
            <a:ext cx="5120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C"/>
            </a:solidFill>
          </a:ln>
        </p:spPr>
      </p:sp>
      <p:sp>
        <p:nvSpPr>
          <p:cNvPr id="5" name="Text 5"/>
          <p:cNvSpPr/>
          <p:nvPr/>
        </p:nvSpPr>
        <p:spPr>
          <a:xfrm>
            <a:off x="3534156" y="17556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 /  RTSP  /  Webcam  /  Video file</a:t>
            </a:r>
            <a:endParaRPr lang="en-US" sz="1150" dirty="0"/>
          </a:p>
        </p:txBody>
      </p:sp>
      <p:sp>
        <p:nvSpPr>
          <p:cNvPr id="6" name="Line 6"/>
          <p:cNvSpPr/>
          <p:nvPr/>
        </p:nvSpPr>
        <p:spPr>
          <a:xfrm>
            <a:off x="6094476" y="2139696"/>
            <a:ext cx="0" cy="128016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  <a:tailEnd type="triangle" w="med" len="med"/>
          </a:ln>
        </p:spPr>
      </p:sp>
      <p:sp>
        <p:nvSpPr>
          <p:cNvPr id="7" name="Shape 7"/>
          <p:cNvSpPr/>
          <p:nvPr/>
        </p:nvSpPr>
        <p:spPr>
          <a:xfrm>
            <a:off x="3534156" y="2267712"/>
            <a:ext cx="5120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C"/>
            </a:solidFill>
          </a:ln>
        </p:spPr>
      </p:sp>
      <p:sp>
        <p:nvSpPr>
          <p:cNvPr id="8" name="Text 8"/>
          <p:cNvSpPr/>
          <p:nvPr/>
        </p:nvSpPr>
        <p:spPr>
          <a:xfrm>
            <a:off x="3625596" y="23225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Ingestion Layer</a:t>
            </a:r>
            <a:endParaRPr lang="en-US" sz="1150" dirty="0"/>
          </a:p>
        </p:txBody>
      </p:sp>
      <p:sp>
        <p:nvSpPr>
          <p:cNvPr id="9" name="Text 9"/>
          <p:cNvSpPr/>
          <p:nvPr/>
        </p:nvSpPr>
        <p:spPr>
          <a:xfrm>
            <a:off x="3625596" y="25877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 · monotonic timestamp · bounded queue</a:t>
            </a:r>
            <a:endParaRPr lang="en-US" sz="900" dirty="0"/>
          </a:p>
        </p:txBody>
      </p:sp>
      <p:sp>
        <p:nvSpPr>
          <p:cNvPr id="10" name="Line 10"/>
          <p:cNvSpPr/>
          <p:nvPr/>
        </p:nvSpPr>
        <p:spPr>
          <a:xfrm>
            <a:off x="6094476" y="2798064"/>
            <a:ext cx="0" cy="128016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  <a:tailEnd type="triangle" w="med" len="med"/>
          </a:ln>
        </p:spPr>
      </p:sp>
      <p:sp>
        <p:nvSpPr>
          <p:cNvPr id="11" name="Shape 11"/>
          <p:cNvSpPr/>
          <p:nvPr/>
        </p:nvSpPr>
        <p:spPr>
          <a:xfrm>
            <a:off x="3259836" y="2926080"/>
            <a:ext cx="5669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C"/>
            </a:solidFill>
          </a:ln>
        </p:spPr>
      </p:sp>
      <p:sp>
        <p:nvSpPr>
          <p:cNvPr id="12" name="Text 12"/>
          <p:cNvSpPr/>
          <p:nvPr/>
        </p:nvSpPr>
        <p:spPr>
          <a:xfrm>
            <a:off x="3351276" y="29809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Dispatcher / Router</a:t>
            </a:r>
            <a:endParaRPr lang="en-US" sz="1150" dirty="0"/>
          </a:p>
        </p:txBody>
      </p:sp>
      <p:sp>
        <p:nvSpPr>
          <p:cNvPr id="13" name="Text 13"/>
          <p:cNvSpPr/>
          <p:nvPr/>
        </p:nvSpPr>
        <p:spPr>
          <a:xfrm>
            <a:off x="3351276" y="32461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frame references, not copies</a:t>
            </a:r>
            <a:endParaRPr lang="en-US" sz="900" dirty="0"/>
          </a:p>
        </p:txBody>
      </p:sp>
      <p:sp>
        <p:nvSpPr>
          <p:cNvPr id="14" name="Line 14"/>
          <p:cNvSpPr/>
          <p:nvPr/>
        </p:nvSpPr>
        <p:spPr>
          <a:xfrm>
            <a:off x="6094476" y="3456432"/>
            <a:ext cx="0" cy="118872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</a:ln>
        </p:spPr>
      </p:sp>
      <p:sp>
        <p:nvSpPr>
          <p:cNvPr id="15" name="Line 15"/>
          <p:cNvSpPr/>
          <p:nvPr/>
        </p:nvSpPr>
        <p:spPr>
          <a:xfrm>
            <a:off x="2423160" y="3575304"/>
            <a:ext cx="7315200" cy="0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</a:ln>
        </p:spPr>
      </p:sp>
      <p:sp>
        <p:nvSpPr>
          <p:cNvPr id="16" name="Line 16"/>
          <p:cNvSpPr/>
          <p:nvPr/>
        </p:nvSpPr>
        <p:spPr>
          <a:xfrm>
            <a:off x="2423160" y="3575304"/>
            <a:ext cx="0" cy="118872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  <a:tailEnd type="triangle" w="med" len="med"/>
          </a:ln>
        </p:spPr>
      </p:sp>
      <p:sp>
        <p:nvSpPr>
          <p:cNvPr id="17" name="Shape 17"/>
          <p:cNvSpPr/>
          <p:nvPr/>
        </p:nvSpPr>
        <p:spPr>
          <a:xfrm>
            <a:off x="777240" y="3694176"/>
            <a:ext cx="3291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C"/>
            </a:solidFill>
          </a:ln>
        </p:spPr>
      </p:sp>
      <p:sp>
        <p:nvSpPr>
          <p:cNvPr id="18" name="Text 18"/>
          <p:cNvSpPr/>
          <p:nvPr/>
        </p:nvSpPr>
        <p:spPr>
          <a:xfrm>
            <a:off x="868680" y="3749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Trust Pool</a:t>
            </a:r>
            <a:endParaRPr lang="en-US" sz="1150" dirty="0"/>
          </a:p>
        </p:txBody>
      </p:sp>
      <p:sp>
        <p:nvSpPr>
          <p:cNvPr id="19" name="Text 19"/>
          <p:cNvSpPr/>
          <p:nvPr/>
        </p:nvSpPr>
        <p:spPr>
          <a:xfrm>
            <a:off x="868680" y="40142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· movement · blur · glare</a:t>
            </a:r>
            <a:endParaRPr lang="en-US" sz="900" dirty="0"/>
          </a:p>
        </p:txBody>
      </p:sp>
      <p:sp>
        <p:nvSpPr>
          <p:cNvPr id="20" name="Line 20"/>
          <p:cNvSpPr/>
          <p:nvPr/>
        </p:nvSpPr>
        <p:spPr>
          <a:xfrm>
            <a:off x="6080760" y="3575304"/>
            <a:ext cx="0" cy="118872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  <a:tailEnd type="triangle" w="med" len="med"/>
          </a:ln>
        </p:spPr>
      </p:sp>
      <p:sp>
        <p:nvSpPr>
          <p:cNvPr id="21" name="Shape 21"/>
          <p:cNvSpPr/>
          <p:nvPr/>
        </p:nvSpPr>
        <p:spPr>
          <a:xfrm>
            <a:off x="4434840" y="3694176"/>
            <a:ext cx="3291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C"/>
            </a:solidFill>
          </a:ln>
        </p:spPr>
      </p:sp>
      <p:sp>
        <p:nvSpPr>
          <p:cNvPr id="22" name="Text 22"/>
          <p:cNvSpPr/>
          <p:nvPr/>
        </p:nvSpPr>
        <p:spPr>
          <a:xfrm>
            <a:off x="4526280" y="3749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Trust Pool</a:t>
            </a:r>
            <a:endParaRPr lang="en-US" sz="1150" dirty="0"/>
          </a:p>
        </p:txBody>
      </p:sp>
      <p:sp>
        <p:nvSpPr>
          <p:cNvPr id="23" name="Text 23"/>
          <p:cNvSpPr/>
          <p:nvPr/>
        </p:nvSpPr>
        <p:spPr>
          <a:xfrm>
            <a:off x="4526280" y="40142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 · sequence · replay check</a:t>
            </a:r>
            <a:endParaRPr lang="en-US" sz="900" dirty="0"/>
          </a:p>
        </p:txBody>
      </p:sp>
      <p:sp>
        <p:nvSpPr>
          <p:cNvPr id="24" name="Line 24"/>
          <p:cNvSpPr/>
          <p:nvPr/>
        </p:nvSpPr>
        <p:spPr>
          <a:xfrm>
            <a:off x="9738360" y="3575304"/>
            <a:ext cx="0" cy="118872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  <a:tailEnd type="triangle" w="med" len="med"/>
          </a:ln>
        </p:spPr>
      </p:sp>
      <p:sp>
        <p:nvSpPr>
          <p:cNvPr id="25" name="Shape 25"/>
          <p:cNvSpPr/>
          <p:nvPr/>
        </p:nvSpPr>
        <p:spPr>
          <a:xfrm>
            <a:off x="8092440" y="3694176"/>
            <a:ext cx="3291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C"/>
            </a:solidFill>
          </a:ln>
        </p:spPr>
      </p:sp>
      <p:sp>
        <p:nvSpPr>
          <p:cNvPr id="26" name="Text 26"/>
          <p:cNvSpPr/>
          <p:nvPr/>
        </p:nvSpPr>
        <p:spPr>
          <a:xfrm>
            <a:off x="8183880" y="3749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Context Pool</a:t>
            </a:r>
            <a:endParaRPr lang="en-US" sz="1150" dirty="0"/>
          </a:p>
        </p:txBody>
      </p:sp>
      <p:sp>
        <p:nvSpPr>
          <p:cNvPr id="27" name="Text 27"/>
          <p:cNvSpPr/>
          <p:nvPr/>
        </p:nvSpPr>
        <p:spPr>
          <a:xfrm>
            <a:off x="8183880" y="40142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· scene · camera health</a:t>
            </a:r>
            <a:endParaRPr lang="en-US" sz="900" dirty="0"/>
          </a:p>
        </p:txBody>
      </p:sp>
      <p:sp>
        <p:nvSpPr>
          <p:cNvPr id="28" name="Line 28"/>
          <p:cNvSpPr/>
          <p:nvPr/>
        </p:nvSpPr>
        <p:spPr>
          <a:xfrm>
            <a:off x="2423160" y="4352544"/>
            <a:ext cx="0" cy="118872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</a:ln>
        </p:spPr>
      </p:sp>
      <p:sp>
        <p:nvSpPr>
          <p:cNvPr id="29" name="Line 29"/>
          <p:cNvSpPr/>
          <p:nvPr/>
        </p:nvSpPr>
        <p:spPr>
          <a:xfrm>
            <a:off x="6080760" y="4352544"/>
            <a:ext cx="0" cy="118872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</a:ln>
        </p:spPr>
      </p:sp>
      <p:sp>
        <p:nvSpPr>
          <p:cNvPr id="30" name="Line 30"/>
          <p:cNvSpPr/>
          <p:nvPr/>
        </p:nvSpPr>
        <p:spPr>
          <a:xfrm>
            <a:off x="9738360" y="4352544"/>
            <a:ext cx="0" cy="118872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</a:ln>
        </p:spPr>
      </p:sp>
      <p:sp>
        <p:nvSpPr>
          <p:cNvPr id="31" name="Line 31"/>
          <p:cNvSpPr/>
          <p:nvPr/>
        </p:nvSpPr>
        <p:spPr>
          <a:xfrm>
            <a:off x="2423160" y="4471416"/>
            <a:ext cx="7315200" cy="0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</a:ln>
        </p:spPr>
      </p:sp>
      <p:sp>
        <p:nvSpPr>
          <p:cNvPr id="32" name="Line 32"/>
          <p:cNvSpPr/>
          <p:nvPr/>
        </p:nvSpPr>
        <p:spPr>
          <a:xfrm>
            <a:off x="6094476" y="4471416"/>
            <a:ext cx="0" cy="118872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  <a:tailEnd type="triangle" w="med" len="med"/>
          </a:ln>
        </p:spPr>
      </p:sp>
      <p:sp>
        <p:nvSpPr>
          <p:cNvPr id="33" name="Shape 33"/>
          <p:cNvSpPr/>
          <p:nvPr/>
        </p:nvSpPr>
        <p:spPr>
          <a:xfrm>
            <a:off x="3534156" y="4590288"/>
            <a:ext cx="5120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C"/>
            </a:solidFill>
          </a:ln>
        </p:spPr>
      </p:sp>
      <p:sp>
        <p:nvSpPr>
          <p:cNvPr id="34" name="Text 34"/>
          <p:cNvSpPr/>
          <p:nvPr/>
        </p:nvSpPr>
        <p:spPr>
          <a:xfrm>
            <a:off x="3625596" y="46451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Fusion Engine</a:t>
            </a:r>
            <a:endParaRPr lang="en-US" sz="1150" dirty="0"/>
          </a:p>
        </p:txBody>
      </p:sp>
      <p:sp>
        <p:nvSpPr>
          <p:cNvPr id="35" name="Text 35"/>
          <p:cNvSpPr/>
          <p:nvPr/>
        </p:nvSpPr>
        <p:spPr>
          <a:xfrm>
            <a:off x="3625596" y="49103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scores → verdict, severity, evidence</a:t>
            </a:r>
            <a:endParaRPr lang="en-US" sz="900" dirty="0"/>
          </a:p>
        </p:txBody>
      </p:sp>
      <p:sp>
        <p:nvSpPr>
          <p:cNvPr id="36" name="Line 36"/>
          <p:cNvSpPr/>
          <p:nvPr/>
        </p:nvSpPr>
        <p:spPr>
          <a:xfrm>
            <a:off x="6094476" y="5120640"/>
            <a:ext cx="0" cy="128016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  <a:tailEnd type="triangle" w="med" len="med"/>
          </a:ln>
        </p:spPr>
      </p:sp>
      <p:sp>
        <p:nvSpPr>
          <p:cNvPr id="37" name="Shape 37"/>
          <p:cNvSpPr/>
          <p:nvPr/>
        </p:nvSpPr>
        <p:spPr>
          <a:xfrm>
            <a:off x="3259836" y="5248656"/>
            <a:ext cx="5669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C"/>
            </a:solidFill>
          </a:ln>
        </p:spPr>
      </p:sp>
      <p:sp>
        <p:nvSpPr>
          <p:cNvPr id="38" name="Text 38"/>
          <p:cNvSpPr/>
          <p:nvPr/>
        </p:nvSpPr>
        <p:spPr>
          <a:xfrm>
            <a:off x="3351276" y="5303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Correlation Engine</a:t>
            </a:r>
            <a:endParaRPr lang="en-US" sz="1150" dirty="0"/>
          </a:p>
        </p:txBody>
      </p:sp>
      <p:sp>
        <p:nvSpPr>
          <p:cNvPr id="39" name="Text 39"/>
          <p:cNvSpPr/>
          <p:nvPr/>
        </p:nvSpPr>
        <p:spPr>
          <a:xfrm>
            <a:off x="3351276" y="556869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across frames, suppresses false alerts</a:t>
            </a:r>
            <a:endParaRPr lang="en-US" sz="900" dirty="0"/>
          </a:p>
        </p:txBody>
      </p:sp>
      <p:sp>
        <p:nvSpPr>
          <p:cNvPr id="40" name="Line 40"/>
          <p:cNvSpPr/>
          <p:nvPr/>
        </p:nvSpPr>
        <p:spPr>
          <a:xfrm>
            <a:off x="6094476" y="5779008"/>
            <a:ext cx="0" cy="118872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</a:ln>
        </p:spPr>
      </p:sp>
      <p:sp>
        <p:nvSpPr>
          <p:cNvPr id="41" name="Line 41"/>
          <p:cNvSpPr/>
          <p:nvPr/>
        </p:nvSpPr>
        <p:spPr>
          <a:xfrm>
            <a:off x="2089404" y="5897880"/>
            <a:ext cx="8010144" cy="0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</a:ln>
        </p:spPr>
      </p:sp>
      <p:sp>
        <p:nvSpPr>
          <p:cNvPr id="42" name="Line 42"/>
          <p:cNvSpPr/>
          <p:nvPr/>
        </p:nvSpPr>
        <p:spPr>
          <a:xfrm>
            <a:off x="2089404" y="5897880"/>
            <a:ext cx="0" cy="118872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  <a:tailEnd type="triangle" w="med" len="med"/>
          </a:ln>
        </p:spPr>
      </p:sp>
      <p:sp>
        <p:nvSpPr>
          <p:cNvPr id="43" name="Shape 43"/>
          <p:cNvSpPr/>
          <p:nvPr/>
        </p:nvSpPr>
        <p:spPr>
          <a:xfrm>
            <a:off x="877824" y="6016752"/>
            <a:ext cx="2423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C"/>
            </a:solidFill>
          </a:ln>
        </p:spPr>
      </p:sp>
      <p:sp>
        <p:nvSpPr>
          <p:cNvPr id="44" name="Text 44"/>
          <p:cNvSpPr/>
          <p:nvPr/>
        </p:nvSpPr>
        <p:spPr>
          <a:xfrm>
            <a:off x="969264" y="60716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45" name="Text 45"/>
          <p:cNvSpPr/>
          <p:nvPr/>
        </p:nvSpPr>
        <p:spPr>
          <a:xfrm>
            <a:off x="969264" y="633679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WebSocket view</a:t>
            </a:r>
            <a:endParaRPr lang="en-US" sz="800" dirty="0"/>
          </a:p>
        </p:txBody>
      </p:sp>
      <p:sp>
        <p:nvSpPr>
          <p:cNvPr id="46" name="Line 46"/>
          <p:cNvSpPr/>
          <p:nvPr/>
        </p:nvSpPr>
        <p:spPr>
          <a:xfrm>
            <a:off x="4759452" y="5897880"/>
            <a:ext cx="0" cy="118872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  <a:tailEnd type="triangle" w="med" len="med"/>
          </a:ln>
        </p:spPr>
      </p:sp>
      <p:sp>
        <p:nvSpPr>
          <p:cNvPr id="47" name="Shape 47"/>
          <p:cNvSpPr/>
          <p:nvPr/>
        </p:nvSpPr>
        <p:spPr>
          <a:xfrm>
            <a:off x="3547872" y="6016752"/>
            <a:ext cx="2423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C"/>
            </a:solidFill>
          </a:ln>
        </p:spPr>
      </p:sp>
      <p:sp>
        <p:nvSpPr>
          <p:cNvPr id="48" name="Text 48"/>
          <p:cNvSpPr/>
          <p:nvPr/>
        </p:nvSpPr>
        <p:spPr>
          <a:xfrm>
            <a:off x="3639312" y="60716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Manager</a:t>
            </a:r>
            <a:endParaRPr lang="en-US" sz="1050" dirty="0"/>
          </a:p>
        </p:txBody>
      </p:sp>
      <p:sp>
        <p:nvSpPr>
          <p:cNvPr id="49" name="Text 49"/>
          <p:cNvSpPr/>
          <p:nvPr/>
        </p:nvSpPr>
        <p:spPr>
          <a:xfrm>
            <a:off x="3639312" y="633679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+ evidence</a:t>
            </a:r>
            <a:endParaRPr lang="en-US" sz="800" dirty="0"/>
          </a:p>
        </p:txBody>
      </p:sp>
      <p:sp>
        <p:nvSpPr>
          <p:cNvPr id="50" name="Line 50"/>
          <p:cNvSpPr/>
          <p:nvPr/>
        </p:nvSpPr>
        <p:spPr>
          <a:xfrm>
            <a:off x="7429500" y="5897880"/>
            <a:ext cx="0" cy="118872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  <a:tailEnd type="triangle" w="med" len="med"/>
          </a:ln>
        </p:spPr>
      </p:sp>
      <p:sp>
        <p:nvSpPr>
          <p:cNvPr id="51" name="Shape 51"/>
          <p:cNvSpPr/>
          <p:nvPr/>
        </p:nvSpPr>
        <p:spPr>
          <a:xfrm>
            <a:off x="6217920" y="6016752"/>
            <a:ext cx="2423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C"/>
            </a:solidFill>
          </a:ln>
        </p:spPr>
      </p:sp>
      <p:sp>
        <p:nvSpPr>
          <p:cNvPr id="52" name="Text 52"/>
          <p:cNvSpPr/>
          <p:nvPr/>
        </p:nvSpPr>
        <p:spPr>
          <a:xfrm>
            <a:off x="6309360" y="60716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Store</a:t>
            </a:r>
            <a:endParaRPr lang="en-US" sz="1050" dirty="0"/>
          </a:p>
        </p:txBody>
      </p:sp>
      <p:sp>
        <p:nvSpPr>
          <p:cNvPr id="53" name="Text 53"/>
          <p:cNvSpPr/>
          <p:nvPr/>
        </p:nvSpPr>
        <p:spPr>
          <a:xfrm>
            <a:off x="6309360" y="633679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+ hash proof</a:t>
            </a:r>
            <a:endParaRPr lang="en-US" sz="800" dirty="0"/>
          </a:p>
        </p:txBody>
      </p:sp>
      <p:sp>
        <p:nvSpPr>
          <p:cNvPr id="54" name="Line 54"/>
          <p:cNvSpPr/>
          <p:nvPr/>
        </p:nvSpPr>
        <p:spPr>
          <a:xfrm>
            <a:off x="10099548" y="5897880"/>
            <a:ext cx="0" cy="118872"/>
          </a:xfrm>
          <a:prstGeom prst="line">
            <a:avLst/>
          </a:prstGeom>
          <a:noFill/>
          <a:ln w="12700">
            <a:solidFill>
              <a:srgbClr val="9A938A"/>
            </a:solidFill>
            <a:prstDash val="solid"/>
            <a:tailEnd type="triangle" w="med" len="med"/>
          </a:ln>
        </p:spPr>
      </p:sp>
      <p:sp>
        <p:nvSpPr>
          <p:cNvPr id="55" name="Shape 55"/>
          <p:cNvSpPr/>
          <p:nvPr/>
        </p:nvSpPr>
        <p:spPr>
          <a:xfrm>
            <a:off x="8887968" y="6016752"/>
            <a:ext cx="2423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C"/>
            </a:solidFill>
          </a:ln>
        </p:spPr>
      </p:sp>
      <p:sp>
        <p:nvSpPr>
          <p:cNvPr id="56" name="Text 56"/>
          <p:cNvSpPr/>
          <p:nvPr/>
        </p:nvSpPr>
        <p:spPr>
          <a:xfrm>
            <a:off x="8979408" y="60716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</a:t>
            </a:r>
            <a:endParaRPr lang="en-US" sz="1050" dirty="0"/>
          </a:p>
        </p:txBody>
      </p:sp>
      <p:sp>
        <p:nvSpPr>
          <p:cNvPr id="57" name="Text 57"/>
          <p:cNvSpPr/>
          <p:nvPr/>
        </p:nvSpPr>
        <p:spPr>
          <a:xfrm>
            <a:off x="8979408" y="633679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trends</a:t>
            </a:r>
            <a:endParaRPr lang="en-US" sz="800" dirty="0"/>
          </a:p>
        </p:txBody>
      </p:sp>
      <p:sp>
        <p:nvSpPr>
          <p:cNvPr id="58" name="Text 58"/>
          <p:cNvSpPr/>
          <p:nvPr/>
        </p:nvSpPr>
        <p:spPr>
          <a:xfrm>
            <a:off x="777240" y="6675120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branch above is part of the target design — detectors are drop-in behind one shared contract.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Modularity — one contract, many detectors</a:t>
            </a:r>
            <a:endParaRPr lang="en-US" sz="3800" dirty="0"/>
          </a:p>
        </p:txBody>
      </p:sp>
      <p:sp>
        <p:nvSpPr>
          <p:cNvPr id="3" name="Text 3"/>
          <p:cNvSpPr/>
          <p:nvPr/>
        </p:nvSpPr>
        <p:spPr>
          <a:xfrm>
            <a:off x="804672" y="12984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detector, in every pool, returns the same shape. Fusion never needs to know which one spoke.</a:t>
            </a:r>
            <a:endParaRPr lang="en-US" sz="1450" dirty="0"/>
          </a:p>
        </p:txBody>
      </p:sp>
      <p:sp>
        <p:nvSpPr>
          <p:cNvPr id="4" name="Text 4"/>
          <p:cNvSpPr/>
          <p:nvPr/>
        </p:nvSpPr>
        <p:spPr>
          <a:xfrm>
            <a:off x="777240" y="187452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trust pool</a:t>
            </a:r>
            <a:endParaRPr lang="en-US" sz="1400" dirty="0"/>
          </a:p>
        </p:txBody>
      </p:sp>
      <p:sp>
        <p:nvSpPr>
          <p:cNvPr id="5" name="Text 5"/>
          <p:cNvSpPr/>
          <p:nvPr/>
        </p:nvSpPr>
        <p:spPr>
          <a:xfrm>
            <a:off x="777240" y="218541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cover · movement · blur · flashlight/glare · frozen frame · visual replay</a:t>
            </a:r>
            <a:endParaRPr lang="en-US" sz="1100" dirty="0"/>
          </a:p>
        </p:txBody>
      </p:sp>
      <p:sp>
        <p:nvSpPr>
          <p:cNvPr id="6" name="Line 6"/>
          <p:cNvSpPr/>
          <p:nvPr/>
        </p:nvSpPr>
        <p:spPr>
          <a:xfrm>
            <a:off x="777240" y="2715768"/>
            <a:ext cx="507492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777240" y="28803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trust pool</a:t>
            </a:r>
            <a:endParaRPr lang="en-US" sz="1400" dirty="0"/>
          </a:p>
        </p:txBody>
      </p:sp>
      <p:sp>
        <p:nvSpPr>
          <p:cNvPr id="8" name="Text 8"/>
          <p:cNvSpPr/>
          <p:nvPr/>
        </p:nvSpPr>
        <p:spPr>
          <a:xfrm>
            <a:off x="777240" y="319125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frame hash · chain hash · sequence &amp; timestamp validation · replay hash check</a:t>
            </a:r>
            <a:endParaRPr lang="en-US" sz="1100" dirty="0"/>
          </a:p>
        </p:txBody>
      </p:sp>
      <p:sp>
        <p:nvSpPr>
          <p:cNvPr id="9" name="Line 9"/>
          <p:cNvSpPr/>
          <p:nvPr/>
        </p:nvSpPr>
        <p:spPr>
          <a:xfrm>
            <a:off x="777240" y="3721608"/>
            <a:ext cx="507492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0" name="Text 10"/>
          <p:cNvSpPr/>
          <p:nvPr/>
        </p:nvSpPr>
        <p:spPr>
          <a:xfrm>
            <a:off x="777240" y="38862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context pool</a:t>
            </a:r>
            <a:endParaRPr lang="en-US" sz="1400" dirty="0"/>
          </a:p>
        </p:txBody>
      </p:sp>
      <p:sp>
        <p:nvSpPr>
          <p:cNvPr id="11" name="Text 11"/>
          <p:cNvSpPr/>
          <p:nvPr/>
        </p:nvSpPr>
        <p:spPr>
          <a:xfrm>
            <a:off x="777240" y="419709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Low-light check · rain/fog check · scene activity · camera health · confidence score</a:t>
            </a:r>
            <a:endParaRPr lang="en-US" sz="1100" dirty="0"/>
          </a:p>
        </p:txBody>
      </p:sp>
      <p:sp>
        <p:nvSpPr>
          <p:cNvPr id="12" name="Text 12"/>
          <p:cNvSpPr/>
          <p:nvPr/>
        </p:nvSpPr>
        <p:spPr>
          <a:xfrm>
            <a:off x="777240" y="4937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six-plus detectors funnel into one contract, shown right →</a:t>
            </a:r>
            <a:endParaRPr lang="en-US" sz="1150" dirty="0"/>
          </a:p>
        </p:txBody>
      </p:sp>
      <p:sp>
        <p:nvSpPr>
          <p:cNvPr id="13" name="Shape 13"/>
          <p:cNvSpPr/>
          <p:nvPr/>
        </p:nvSpPr>
        <p:spPr>
          <a:xfrm>
            <a:off x="6263640" y="1828800"/>
            <a:ext cx="5120640" cy="3063240"/>
          </a:xfrm>
          <a:prstGeom prst="roundRect">
            <a:avLst>
              <a:gd name="adj" fmla="val 6977"/>
            </a:avLst>
          </a:prstGeom>
          <a:solidFill>
            <a:srgbClr val="F4F2EF"/>
          </a:solidFill>
          <a:ln/>
        </p:spPr>
      </p:sp>
      <p:sp>
        <p:nvSpPr>
          <p:cNvPr id="14" name="Text 14"/>
          <p:cNvSpPr/>
          <p:nvPr/>
        </p:nvSpPr>
        <p:spPr>
          <a:xfrm>
            <a:off x="6583680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shared contract</a:t>
            </a:r>
            <a:endParaRPr lang="en-US" sz="1700" dirty="0"/>
          </a:p>
        </p:txBody>
      </p:sp>
      <p:sp>
        <p:nvSpPr>
          <p:cNvPr id="15" name="Text 15"/>
          <p:cNvSpPr/>
          <p:nvPr/>
        </p:nvSpPr>
        <p:spPr>
          <a:xfrm>
            <a:off x="6583680" y="260604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signal_name : str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triggered   : bool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 : float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   : str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        : list|None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        : str</a:t>
            </a:r>
            <a:endParaRPr lang="en-US" sz="1150" dirty="0"/>
          </a:p>
        </p:txBody>
      </p:sp>
      <p:sp>
        <p:nvSpPr>
          <p:cNvPr id="16" name="Text 16"/>
          <p:cNvSpPr/>
          <p:nvPr/>
        </p:nvSpPr>
        <p:spPr>
          <a:xfrm>
            <a:off x="6583680" y="41605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construction, not just documented — a detector that returns an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out-of-range confidence or empty evidence never reaches Fusion.</a:t>
            </a:r>
            <a:endParaRPr lang="en-US" sz="1050" dirty="0"/>
          </a:p>
        </p:txBody>
      </p:sp>
      <p:sp>
        <p:nvSpPr>
          <p:cNvPr id="17" name="Line 17"/>
          <p:cNvSpPr/>
          <p:nvPr/>
        </p:nvSpPr>
        <p:spPr>
          <a:xfrm>
            <a:off x="777240" y="5166360"/>
            <a:ext cx="10634472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8" name="Text 18"/>
          <p:cNvSpPr/>
          <p:nvPr/>
        </p:nvSpPr>
        <p:spPr>
          <a:xfrm>
            <a:off x="777240" y="534924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system scales by detector count, not by rewrite: a new signal in any pool is a drop-in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contract, never a change to Fusion, Correlation, or the dashboard above it.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— two independent axes</a:t>
            </a:r>
            <a:endParaRPr lang="en-US" sz="3800" dirty="0"/>
          </a:p>
        </p:txBody>
      </p:sp>
      <p:sp>
        <p:nvSpPr>
          <p:cNvPr id="3" name="Text 3"/>
          <p:cNvSpPr/>
          <p:nvPr/>
        </p:nvSpPr>
        <p:spPr>
          <a:xfrm>
            <a:off x="804672" y="12984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load never means touching a running pipeline.</a:t>
            </a:r>
            <a:endParaRPr lang="en-US" sz="1450" dirty="0"/>
          </a:p>
        </p:txBody>
      </p:sp>
      <p:sp>
        <p:nvSpPr>
          <p:cNvPr id="4" name="Line 4"/>
          <p:cNvSpPr/>
          <p:nvPr/>
        </p:nvSpPr>
        <p:spPr>
          <a:xfrm>
            <a:off x="6035040" y="1828800"/>
            <a:ext cx="0" cy="416052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5" name="Text 5"/>
          <p:cNvSpPr/>
          <p:nvPr/>
        </p:nvSpPr>
        <p:spPr>
          <a:xfrm>
            <a:off x="77724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one stream</a:t>
            </a:r>
            <a:endParaRPr lang="en-US" sz="1900" dirty="0"/>
          </a:p>
        </p:txBody>
      </p:sp>
      <p:sp>
        <p:nvSpPr>
          <p:cNvPr id="6" name="Shape 6"/>
          <p:cNvSpPr/>
          <p:nvPr/>
        </p:nvSpPr>
        <p:spPr>
          <a:xfrm>
            <a:off x="777240" y="2514600"/>
            <a:ext cx="1234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A"/>
            </a:solidFill>
          </a:ln>
        </p:spPr>
      </p:sp>
      <p:sp>
        <p:nvSpPr>
          <p:cNvPr id="7" name="Text 7"/>
          <p:cNvSpPr/>
          <p:nvPr/>
        </p:nvSpPr>
        <p:spPr>
          <a:xfrm>
            <a:off x="777240" y="26700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00" dirty="0"/>
          </a:p>
        </p:txBody>
      </p:sp>
      <p:sp>
        <p:nvSpPr>
          <p:cNvPr id="8" name="Line 8"/>
          <p:cNvSpPr/>
          <p:nvPr/>
        </p:nvSpPr>
        <p:spPr>
          <a:xfrm>
            <a:off x="2011680" y="2766060"/>
            <a:ext cx="256032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9" name="Shape 9"/>
          <p:cNvSpPr/>
          <p:nvPr/>
        </p:nvSpPr>
        <p:spPr>
          <a:xfrm>
            <a:off x="2267712" y="2514600"/>
            <a:ext cx="1234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A"/>
            </a:solidFill>
          </a:ln>
        </p:spPr>
      </p:sp>
      <p:sp>
        <p:nvSpPr>
          <p:cNvPr id="10" name="Text 10"/>
          <p:cNvSpPr/>
          <p:nvPr/>
        </p:nvSpPr>
        <p:spPr>
          <a:xfrm>
            <a:off x="2267712" y="26700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queue</a:t>
            </a:r>
            <a:endParaRPr lang="en-US" sz="900" dirty="0"/>
          </a:p>
        </p:txBody>
      </p:sp>
      <p:sp>
        <p:nvSpPr>
          <p:cNvPr id="11" name="Line 11"/>
          <p:cNvSpPr/>
          <p:nvPr/>
        </p:nvSpPr>
        <p:spPr>
          <a:xfrm>
            <a:off x="3502152" y="2766060"/>
            <a:ext cx="256032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3758184" y="2194560"/>
            <a:ext cx="1325880" cy="1463040"/>
          </a:xfrm>
          <a:prstGeom prst="roundRect">
            <a:avLst>
              <a:gd name="adj" fmla="val 6977"/>
            </a:avLst>
          </a:prstGeom>
          <a:solidFill>
            <a:srgbClr val="F4F2EF"/>
          </a:solidFill>
          <a:ln/>
        </p:spPr>
      </p:sp>
      <p:sp>
        <p:nvSpPr>
          <p:cNvPr id="13" name="Text 13"/>
          <p:cNvSpPr/>
          <p:nvPr/>
        </p:nvSpPr>
        <p:spPr>
          <a:xfrm>
            <a:off x="3758184" y="22219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pool</a:t>
            </a:r>
            <a:endParaRPr lang="en-US" sz="950" dirty="0"/>
          </a:p>
        </p:txBody>
      </p:sp>
      <p:sp>
        <p:nvSpPr>
          <p:cNvPr id="14" name="Shape 14"/>
          <p:cNvSpPr/>
          <p:nvPr/>
        </p:nvSpPr>
        <p:spPr>
          <a:xfrm>
            <a:off x="3895344" y="2496312"/>
            <a:ext cx="1051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A"/>
            </a:solidFill>
          </a:ln>
        </p:spPr>
      </p:sp>
      <p:sp>
        <p:nvSpPr>
          <p:cNvPr id="15" name="Text 15"/>
          <p:cNvSpPr/>
          <p:nvPr/>
        </p:nvSpPr>
        <p:spPr>
          <a:xfrm>
            <a:off x="3895344" y="25420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850" dirty="0"/>
          </a:p>
        </p:txBody>
      </p:sp>
      <p:sp>
        <p:nvSpPr>
          <p:cNvPr id="16" name="Shape 16"/>
          <p:cNvSpPr/>
          <p:nvPr/>
        </p:nvSpPr>
        <p:spPr>
          <a:xfrm>
            <a:off x="3895344" y="2816352"/>
            <a:ext cx="1051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A"/>
            </a:solidFill>
          </a:ln>
        </p:spPr>
      </p:sp>
      <p:sp>
        <p:nvSpPr>
          <p:cNvPr id="17" name="Text 17"/>
          <p:cNvSpPr/>
          <p:nvPr/>
        </p:nvSpPr>
        <p:spPr>
          <a:xfrm>
            <a:off x="3895344" y="28620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850" dirty="0"/>
          </a:p>
        </p:txBody>
      </p:sp>
      <p:sp>
        <p:nvSpPr>
          <p:cNvPr id="18" name="Shape 18"/>
          <p:cNvSpPr/>
          <p:nvPr/>
        </p:nvSpPr>
        <p:spPr>
          <a:xfrm>
            <a:off x="3895344" y="3136392"/>
            <a:ext cx="1051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A"/>
            </a:solidFill>
          </a:ln>
        </p:spPr>
      </p:sp>
      <p:sp>
        <p:nvSpPr>
          <p:cNvPr id="19" name="Text 19"/>
          <p:cNvSpPr/>
          <p:nvPr/>
        </p:nvSpPr>
        <p:spPr>
          <a:xfrm>
            <a:off x="3895344" y="31821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50" dirty="0"/>
          </a:p>
        </p:txBody>
      </p:sp>
      <p:sp>
        <p:nvSpPr>
          <p:cNvPr id="20" name="Text 20"/>
          <p:cNvSpPr/>
          <p:nvPr/>
        </p:nvSpPr>
        <p:spPr>
          <a:xfrm>
            <a:off x="77724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parallel, per frame</a:t>
            </a:r>
            <a:endParaRPr lang="en-US" sz="950" dirty="0"/>
          </a:p>
        </p:txBody>
      </p:sp>
      <p:sp>
        <p:nvSpPr>
          <p:cNvPr id="21" name="Text 21"/>
          <p:cNvSpPr/>
          <p:nvPr/>
        </p:nvSpPr>
        <p:spPr>
          <a:xfrm>
            <a:off x="777240" y="4160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Producer/consumer threading, bounded queue absorbs bursts</a:t>
            </a:r>
            <a:endParaRPr lang="en-US" sz="1050" dirty="0"/>
          </a:p>
        </p:txBody>
      </p:sp>
      <p:sp>
        <p:nvSpPr>
          <p:cNvPr id="22" name="Text 22"/>
          <p:cNvSpPr/>
          <p:nvPr/>
        </p:nvSpPr>
        <p:spPr>
          <a:xfrm>
            <a:off x="777240" y="44897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Drop policy: oldest first, never silent — rate-limited warnings</a:t>
            </a:r>
            <a:endParaRPr lang="en-US" sz="1050" dirty="0"/>
          </a:p>
        </p:txBody>
      </p:sp>
      <p:sp>
        <p:nvSpPr>
          <p:cNvPr id="23" name="Text 23"/>
          <p:cNvSpPr/>
          <p:nvPr/>
        </p:nvSpPr>
        <p:spPr>
          <a:xfrm>
            <a:off x="777240" y="48188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Verified stable at 30fps on real camera, zero drops on clean runs</a:t>
            </a:r>
            <a:endParaRPr lang="en-US" sz="1050" dirty="0"/>
          </a:p>
        </p:txBody>
      </p:sp>
      <p:sp>
        <p:nvSpPr>
          <p:cNvPr id="24" name="Text 24"/>
          <p:cNvSpPr/>
          <p:nvPr/>
        </p:nvSpPr>
        <p:spPr>
          <a:xfrm>
            <a:off x="635508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cameras</a:t>
            </a:r>
            <a:endParaRPr lang="en-US" sz="1900" dirty="0"/>
          </a:p>
        </p:txBody>
      </p:sp>
      <p:sp>
        <p:nvSpPr>
          <p:cNvPr id="25" name="Shape 25"/>
          <p:cNvSpPr/>
          <p:nvPr/>
        </p:nvSpPr>
        <p:spPr>
          <a:xfrm>
            <a:off x="6355080" y="2514600"/>
            <a:ext cx="777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A"/>
            </a:solidFill>
          </a:ln>
        </p:spPr>
      </p:sp>
      <p:sp>
        <p:nvSpPr>
          <p:cNvPr id="26" name="Text 26"/>
          <p:cNvSpPr/>
          <p:nvPr/>
        </p:nvSpPr>
        <p:spPr>
          <a:xfrm>
            <a:off x="6355080" y="2606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1</a:t>
            </a:r>
            <a:endParaRPr lang="en-US" sz="900" dirty="0"/>
          </a:p>
        </p:txBody>
      </p:sp>
      <p:sp>
        <p:nvSpPr>
          <p:cNvPr id="27" name="Text 27"/>
          <p:cNvSpPr/>
          <p:nvPr/>
        </p:nvSpPr>
        <p:spPr>
          <a:xfrm>
            <a:off x="6355080" y="28437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750" dirty="0"/>
          </a:p>
        </p:txBody>
      </p:sp>
      <p:sp>
        <p:nvSpPr>
          <p:cNvPr id="28" name="Shape 28"/>
          <p:cNvSpPr/>
          <p:nvPr/>
        </p:nvSpPr>
        <p:spPr>
          <a:xfrm>
            <a:off x="7333488" y="2514600"/>
            <a:ext cx="777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A"/>
            </a:solidFill>
          </a:ln>
        </p:spPr>
      </p:sp>
      <p:sp>
        <p:nvSpPr>
          <p:cNvPr id="29" name="Text 29"/>
          <p:cNvSpPr/>
          <p:nvPr/>
        </p:nvSpPr>
        <p:spPr>
          <a:xfrm>
            <a:off x="7333488" y="2606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2</a:t>
            </a:r>
            <a:endParaRPr lang="en-US" sz="900" dirty="0"/>
          </a:p>
        </p:txBody>
      </p:sp>
      <p:sp>
        <p:nvSpPr>
          <p:cNvPr id="30" name="Text 30"/>
          <p:cNvSpPr/>
          <p:nvPr/>
        </p:nvSpPr>
        <p:spPr>
          <a:xfrm>
            <a:off x="7333488" y="28437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750" dirty="0"/>
          </a:p>
        </p:txBody>
      </p:sp>
      <p:sp>
        <p:nvSpPr>
          <p:cNvPr id="31" name="Shape 31"/>
          <p:cNvSpPr/>
          <p:nvPr/>
        </p:nvSpPr>
        <p:spPr>
          <a:xfrm>
            <a:off x="8311896" y="2514600"/>
            <a:ext cx="777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A"/>
            </a:solidFill>
          </a:ln>
        </p:spPr>
      </p:sp>
      <p:sp>
        <p:nvSpPr>
          <p:cNvPr id="32" name="Text 32"/>
          <p:cNvSpPr/>
          <p:nvPr/>
        </p:nvSpPr>
        <p:spPr>
          <a:xfrm>
            <a:off x="8311896" y="2606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3</a:t>
            </a:r>
            <a:endParaRPr lang="en-US" sz="900" dirty="0"/>
          </a:p>
        </p:txBody>
      </p:sp>
      <p:sp>
        <p:nvSpPr>
          <p:cNvPr id="33" name="Text 33"/>
          <p:cNvSpPr/>
          <p:nvPr/>
        </p:nvSpPr>
        <p:spPr>
          <a:xfrm>
            <a:off x="8311896" y="28437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750" dirty="0"/>
          </a:p>
        </p:txBody>
      </p:sp>
      <p:sp>
        <p:nvSpPr>
          <p:cNvPr id="34" name="Shape 34"/>
          <p:cNvSpPr/>
          <p:nvPr/>
        </p:nvSpPr>
        <p:spPr>
          <a:xfrm>
            <a:off x="9290304" y="2514600"/>
            <a:ext cx="777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A"/>
            </a:solidFill>
          </a:ln>
        </p:spPr>
      </p:sp>
      <p:sp>
        <p:nvSpPr>
          <p:cNvPr id="35" name="Text 35"/>
          <p:cNvSpPr/>
          <p:nvPr/>
        </p:nvSpPr>
        <p:spPr>
          <a:xfrm>
            <a:off x="9290304" y="2606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4</a:t>
            </a:r>
            <a:endParaRPr lang="en-US" sz="900" dirty="0"/>
          </a:p>
        </p:txBody>
      </p:sp>
      <p:sp>
        <p:nvSpPr>
          <p:cNvPr id="36" name="Text 36"/>
          <p:cNvSpPr/>
          <p:nvPr/>
        </p:nvSpPr>
        <p:spPr>
          <a:xfrm>
            <a:off x="9290304" y="28437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750" dirty="0"/>
          </a:p>
        </p:txBody>
      </p:sp>
      <p:sp>
        <p:nvSpPr>
          <p:cNvPr id="37" name="Text 37"/>
          <p:cNvSpPr/>
          <p:nvPr/>
        </p:nvSpPr>
        <p:spPr>
          <a:xfrm>
            <a:off x="10268712" y="265176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· ·</a:t>
            </a:r>
            <a:endParaRPr lang="en-US" sz="1400" dirty="0"/>
          </a:p>
        </p:txBody>
      </p:sp>
      <p:sp>
        <p:nvSpPr>
          <p:cNvPr id="38" name="Text 38"/>
          <p:cNvSpPr/>
          <p:nvPr/>
        </p:nvSpPr>
        <p:spPr>
          <a:xfrm>
            <a:off x="635508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state between instances</a:t>
            </a:r>
            <a:endParaRPr lang="en-US" sz="950" dirty="0"/>
          </a:p>
        </p:txBody>
      </p:sp>
      <p:sp>
        <p:nvSpPr>
          <p:cNvPr id="39" name="Text 39"/>
          <p:cNvSpPr/>
          <p:nvPr/>
        </p:nvSpPr>
        <p:spPr>
          <a:xfrm>
            <a:off x="6355080" y="4160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Each RTSP/camera source gets its own pipeline instance</a:t>
            </a:r>
            <a:endParaRPr lang="en-US" sz="1050" dirty="0"/>
          </a:p>
        </p:txBody>
      </p:sp>
      <p:sp>
        <p:nvSpPr>
          <p:cNvPr id="40" name="Text 40"/>
          <p:cNvSpPr/>
          <p:nvPr/>
        </p:nvSpPr>
        <p:spPr>
          <a:xfrm>
            <a:off x="6355080" y="44897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 cross-camera coordination needed — horizontally flat</a:t>
            </a:r>
            <a:endParaRPr lang="en-US" sz="1050" dirty="0"/>
          </a:p>
        </p:txBody>
      </p:sp>
      <p:sp>
        <p:nvSpPr>
          <p:cNvPr id="41" name="Text 41"/>
          <p:cNvSpPr/>
          <p:nvPr/>
        </p:nvSpPr>
        <p:spPr>
          <a:xfrm>
            <a:off x="6355080" y="48188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 cameras scales to N instances; add hardware, not redesign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data integrity</a:t>
            </a:r>
            <a:endParaRPr lang="en-US" sz="3800" dirty="0"/>
          </a:p>
        </p:txBody>
      </p:sp>
      <p:sp>
        <p:nvSpPr>
          <p:cNvPr id="3" name="Text 3"/>
          <p:cNvSpPr/>
          <p:nvPr/>
        </p:nvSpPr>
        <p:spPr>
          <a:xfrm>
            <a:off x="804672" y="12984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protects the footage's chain of custody, not just what protects the network link.</a:t>
            </a:r>
            <a:endParaRPr lang="en-US" sz="1450" dirty="0"/>
          </a:p>
        </p:txBody>
      </p:sp>
      <p:sp>
        <p:nvSpPr>
          <p:cNvPr id="4" name="Text 4"/>
          <p:cNvSpPr/>
          <p:nvPr/>
        </p:nvSpPr>
        <p:spPr>
          <a:xfrm>
            <a:off x="77724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evidence chain</a:t>
            </a:r>
            <a:endParaRPr lang="en-US" sz="1400" dirty="0"/>
          </a:p>
        </p:txBody>
      </p:sp>
      <p:sp>
        <p:nvSpPr>
          <p:cNvPr id="5" name="Shape 5"/>
          <p:cNvSpPr/>
          <p:nvPr/>
        </p:nvSpPr>
        <p:spPr>
          <a:xfrm>
            <a:off x="777240" y="242316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A"/>
            </a:solidFill>
          </a:ln>
        </p:spPr>
      </p:sp>
      <p:sp>
        <p:nvSpPr>
          <p:cNvPr id="6" name="Text 6"/>
          <p:cNvSpPr/>
          <p:nvPr/>
        </p:nvSpPr>
        <p:spPr>
          <a:xfrm>
            <a:off x="777240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1</a:t>
            </a:r>
            <a:endParaRPr lang="en-US" sz="950" dirty="0"/>
          </a:p>
        </p:txBody>
      </p:sp>
      <p:sp>
        <p:nvSpPr>
          <p:cNvPr id="7" name="Line 7"/>
          <p:cNvSpPr/>
          <p:nvPr/>
        </p:nvSpPr>
        <p:spPr>
          <a:xfrm>
            <a:off x="1691640" y="2674620"/>
            <a:ext cx="566928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8" name="Text 8"/>
          <p:cNvSpPr/>
          <p:nvPr/>
        </p:nvSpPr>
        <p:spPr>
          <a:xfrm>
            <a:off x="1709928" y="23820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45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endParaRPr lang="en-US" sz="800" dirty="0"/>
          </a:p>
        </p:txBody>
      </p:sp>
      <p:sp>
        <p:nvSpPr>
          <p:cNvPr id="9" name="Shape 9"/>
          <p:cNvSpPr/>
          <p:nvPr/>
        </p:nvSpPr>
        <p:spPr>
          <a:xfrm>
            <a:off x="2258568" y="242316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A"/>
            </a:solidFill>
          </a:ln>
        </p:spPr>
      </p:sp>
      <p:sp>
        <p:nvSpPr>
          <p:cNvPr id="10" name="Text 10"/>
          <p:cNvSpPr/>
          <p:nvPr/>
        </p:nvSpPr>
        <p:spPr>
          <a:xfrm>
            <a:off x="2258568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2</a:t>
            </a:r>
            <a:endParaRPr lang="en-US" sz="950" dirty="0"/>
          </a:p>
        </p:txBody>
      </p:sp>
      <p:sp>
        <p:nvSpPr>
          <p:cNvPr id="11" name="Line 11"/>
          <p:cNvSpPr/>
          <p:nvPr/>
        </p:nvSpPr>
        <p:spPr>
          <a:xfrm>
            <a:off x="3172968" y="2674620"/>
            <a:ext cx="566928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2" name="Text 12"/>
          <p:cNvSpPr/>
          <p:nvPr/>
        </p:nvSpPr>
        <p:spPr>
          <a:xfrm>
            <a:off x="3191256" y="23820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45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endParaRPr lang="en-US" sz="800" dirty="0"/>
          </a:p>
        </p:txBody>
      </p:sp>
      <p:sp>
        <p:nvSpPr>
          <p:cNvPr id="13" name="Shape 13"/>
          <p:cNvSpPr/>
          <p:nvPr/>
        </p:nvSpPr>
        <p:spPr>
          <a:xfrm>
            <a:off x="3739896" y="2423160"/>
            <a:ext cx="914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A"/>
            </a:solidFill>
          </a:ln>
        </p:spPr>
      </p:sp>
      <p:sp>
        <p:nvSpPr>
          <p:cNvPr id="14" name="Text 14"/>
          <p:cNvSpPr/>
          <p:nvPr/>
        </p:nvSpPr>
        <p:spPr>
          <a:xfrm>
            <a:off x="3739896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3</a:t>
            </a:r>
            <a:endParaRPr lang="en-US" sz="950" dirty="0"/>
          </a:p>
        </p:txBody>
      </p:sp>
      <p:sp>
        <p:nvSpPr>
          <p:cNvPr id="15" name="Text 15"/>
          <p:cNvSpPr/>
          <p:nvPr/>
        </p:nvSpPr>
        <p:spPr>
          <a:xfrm>
            <a:off x="777240" y="3200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frame's hash folds in the previous frame's hash. Runs on every frame, regardless of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— altering any past frame breaks every hash after it.</a:t>
            </a:r>
            <a:endParaRPr lang="en-US" sz="1050" dirty="0"/>
          </a:p>
        </p:txBody>
      </p:sp>
      <p:sp>
        <p:nvSpPr>
          <p:cNvPr id="16" name="Line 16"/>
          <p:cNvSpPr/>
          <p:nvPr/>
        </p:nvSpPr>
        <p:spPr>
          <a:xfrm>
            <a:off x="777240" y="3977640"/>
            <a:ext cx="484632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777240" y="4160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the chain at alert time</a:t>
            </a:r>
            <a:endParaRPr lang="en-US" sz="1200" dirty="0"/>
          </a:p>
        </p:txBody>
      </p:sp>
      <p:sp>
        <p:nvSpPr>
          <p:cNvPr id="18" name="Text 18"/>
          <p:cNvSpPr/>
          <p:nvPr/>
        </p:nvSpPr>
        <p:spPr>
          <a:xfrm>
            <a:off x="777240" y="4480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frame that fired a verdict was continuous and untampered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verdict fired — not just plausible after the fact.</a:t>
            </a:r>
            <a:endParaRPr lang="en-US" sz="1050" dirty="0"/>
          </a:p>
        </p:txBody>
      </p:sp>
      <p:sp>
        <p:nvSpPr>
          <p:cNvPr id="19" name="Text 19"/>
          <p:cNvSpPr/>
          <p:nvPr/>
        </p:nvSpPr>
        <p:spPr>
          <a:xfrm>
            <a:off x="6263640" y="1874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trust pool</a:t>
            </a:r>
            <a:endParaRPr lang="en-US" sz="1400" dirty="0"/>
          </a:p>
        </p:txBody>
      </p:sp>
      <p:sp>
        <p:nvSpPr>
          <p:cNvPr id="20" name="Text 20"/>
          <p:cNvSpPr/>
          <p:nvPr/>
        </p:nvSpPr>
        <p:spPr>
          <a:xfrm>
            <a:off x="6263640" y="21854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frame hash, sequence &amp; timestamp validation, replay hash check — image authenticity independent of physical detectors</a:t>
            </a:r>
            <a:endParaRPr lang="en-US" sz="1100" dirty="0"/>
          </a:p>
        </p:txBody>
      </p:sp>
      <p:sp>
        <p:nvSpPr>
          <p:cNvPr id="21" name="Line 21"/>
          <p:cNvSpPr/>
          <p:nvPr/>
        </p:nvSpPr>
        <p:spPr>
          <a:xfrm>
            <a:off x="6263640" y="2807208"/>
            <a:ext cx="512064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6263640" y="2971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Stream-level protection</a:t>
            </a:r>
            <a:endParaRPr lang="en-US" sz="1400" dirty="0"/>
          </a:p>
        </p:txBody>
      </p:sp>
      <p:sp>
        <p:nvSpPr>
          <p:cNvPr id="23" name="Text 23"/>
          <p:cNvSpPr/>
          <p:nvPr/>
        </p:nvSpPr>
        <p:spPr>
          <a:xfrm>
            <a:off x="6263640" y="32826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credential handling; bounded queues stop a runaway or malicious feed from exhausting memory</a:t>
            </a:r>
            <a:endParaRPr lang="en-US" sz="1100" dirty="0"/>
          </a:p>
        </p:txBody>
      </p:sp>
      <p:sp>
        <p:nvSpPr>
          <p:cNvPr id="24" name="Line 24"/>
          <p:cNvSpPr/>
          <p:nvPr/>
        </p:nvSpPr>
        <p:spPr>
          <a:xfrm>
            <a:off x="6263640" y="3904488"/>
            <a:ext cx="512064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6263640" y="40690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integrity</a:t>
            </a:r>
            <a:endParaRPr lang="en-US" sz="1400" dirty="0"/>
          </a:p>
        </p:txBody>
      </p:sp>
      <p:sp>
        <p:nvSpPr>
          <p:cNvPr id="26" name="Text 26"/>
          <p:cNvSpPr/>
          <p:nvPr/>
        </p:nvSpPr>
        <p:spPr>
          <a:xfrm>
            <a:off x="6263640" y="43799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payload carries evidence and a hash reference — an alert cannot be forged or replayed into the pipeline from outside</a:t>
            </a:r>
            <a:endParaRPr lang="en-US" sz="1100" dirty="0"/>
          </a:p>
        </p:txBody>
      </p:sp>
      <p:sp>
        <p:nvSpPr>
          <p:cNvPr id="27" name="Shape 27"/>
          <p:cNvSpPr/>
          <p:nvPr/>
        </p:nvSpPr>
        <p:spPr>
          <a:xfrm>
            <a:off x="6263640" y="5212080"/>
            <a:ext cx="5120640" cy="777240"/>
          </a:xfrm>
          <a:prstGeom prst="roundRect">
            <a:avLst>
              <a:gd name="adj" fmla="val 6977"/>
            </a:avLst>
          </a:prstGeom>
          <a:solidFill>
            <a:srgbClr val="F4F2EF"/>
          </a:solidFill>
          <a:ln/>
        </p:spPr>
      </p:sp>
      <p:sp>
        <p:nvSpPr>
          <p:cNvPr id="28" name="Text 28"/>
          <p:cNvSpPr/>
          <p:nvPr/>
        </p:nvSpPr>
        <p:spPr>
          <a:xfrm>
            <a:off x="6537960" y="53675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today: RTSP handling, bounded queues, digital-pool checks.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chain is built and working — scoped out of the PS3 demo path only.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772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persistence</a:t>
            </a:r>
            <a:endParaRPr lang="en-US" sz="3800" dirty="0"/>
          </a:p>
        </p:txBody>
      </p:sp>
      <p:sp>
        <p:nvSpPr>
          <p:cNvPr id="3" name="Text 3"/>
          <p:cNvSpPr/>
          <p:nvPr/>
        </p:nvSpPr>
        <p:spPr>
          <a:xfrm>
            <a:off x="804672" y="12984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design, not omission — the system produces events, not entities, and persistence follows that shape.</a:t>
            </a:r>
            <a:endParaRPr lang="en-US" sz="1450" dirty="0"/>
          </a:p>
        </p:txBody>
      </p:sp>
      <p:sp>
        <p:nvSpPr>
          <p:cNvPr id="4" name="Text 4"/>
          <p:cNvSpPr/>
          <p:nvPr/>
        </p:nvSpPr>
        <p:spPr>
          <a:xfrm>
            <a:off x="77724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relational schema</a:t>
            </a:r>
            <a:endParaRPr lang="en-US" sz="1500" dirty="0"/>
          </a:p>
        </p:txBody>
      </p:sp>
      <p:sp>
        <p:nvSpPr>
          <p:cNvPr id="5" name="Text 5"/>
          <p:cNvSpPr/>
          <p:nvPr/>
        </p:nvSpPr>
        <p:spPr>
          <a:xfrm>
            <a:off x="777240" y="2331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exists to remove redundancy across related entities —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with many orders, an order with many line items.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AuraGuard has no such relationships. Every record is a self-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 detection event: one camera, one timestamp, one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4A4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signal, one verdict. There is nothing to join.</a:t>
            </a:r>
            <a:endParaRPr lang="en-US" sz="1100" dirty="0"/>
          </a:p>
        </p:txBody>
      </p:sp>
      <p:sp>
        <p:nvSpPr>
          <p:cNvPr id="6" name="Line 6"/>
          <p:cNvSpPr/>
          <p:nvPr/>
        </p:nvSpPr>
        <p:spPr>
          <a:xfrm>
            <a:off x="777240" y="3977640"/>
            <a:ext cx="502920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777240" y="4160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design decision, not a gap: forcing a multi-table schema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 single-entity events would add join overhead the dashboard and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path never need.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6263640" y="1828800"/>
            <a:ext cx="5120640" cy="2331720"/>
          </a:xfrm>
          <a:prstGeom prst="roundRect">
            <a:avLst>
              <a:gd name="adj" fmla="val 6977"/>
            </a:avLst>
          </a:prstGeom>
          <a:solidFill>
            <a:srgbClr val="F4F2EF"/>
          </a:solidFill>
          <a:ln/>
        </p:spPr>
      </p:sp>
      <p:sp>
        <p:nvSpPr>
          <p:cNvPr id="9" name="Text 9"/>
          <p:cNvSpPr/>
          <p:nvPr/>
        </p:nvSpPr>
        <p:spPr>
          <a:xfrm>
            <a:off x="6583680" y="2057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event record</a:t>
            </a:r>
            <a:endParaRPr lang="en-US" sz="1500" dirty="0"/>
          </a:p>
        </p:txBody>
      </p:sp>
      <p:sp>
        <p:nvSpPr>
          <p:cNvPr id="10" name="Text 10"/>
          <p:cNvSpPr/>
          <p:nvPr/>
        </p:nvSpPr>
        <p:spPr>
          <a:xfrm>
            <a:off x="6583680" y="2487168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camera_id   : str</a:t>
            </a:r>
            <a:endParaRPr lang="en-US" sz="110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   : float</a:t>
            </a:r>
            <a:endParaRPr lang="en-US" sz="110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        : str</a:t>
            </a:r>
            <a:endParaRPr lang="en-US" sz="110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signal_name : str</a:t>
            </a:r>
            <a:endParaRPr lang="en-US" sz="110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 : float</a:t>
            </a:r>
            <a:endParaRPr lang="en-US" sz="110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   : str</a:t>
            </a:r>
            <a:endParaRPr lang="en-US" sz="110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46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hash_ref    : str</a:t>
            </a:r>
            <a:endParaRPr lang="en-US" sz="1100" dirty="0"/>
          </a:p>
        </p:txBody>
      </p:sp>
      <p:sp>
        <p:nvSpPr>
          <p:cNvPr id="11" name="Text 11"/>
          <p:cNvSpPr/>
          <p:nvPr/>
        </p:nvSpPr>
        <p:spPr>
          <a:xfrm>
            <a:off x="6263640" y="4343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Append-only. One row per detection event, indexed by camera_id + timestamp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only query pattern the dashboard and analytics engine need.</a:t>
            </a:r>
            <a:endParaRPr lang="en-US" sz="1100" dirty="0"/>
          </a:p>
        </p:txBody>
      </p:sp>
      <p:sp>
        <p:nvSpPr>
          <p:cNvPr id="12" name="Line 12"/>
          <p:cNvSpPr/>
          <p:nvPr/>
        </p:nvSpPr>
        <p:spPr>
          <a:xfrm>
            <a:off x="6263640" y="5074920"/>
            <a:ext cx="5120640" cy="0"/>
          </a:xfrm>
          <a:prstGeom prst="line">
            <a:avLst/>
          </a:prstGeom>
          <a:noFill/>
          <a:ln w="12700">
            <a:solidFill>
              <a:srgbClr val="E3DFDA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6263640" y="5257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store today; swaps to a partitioned time-series table under load —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A83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shape doesn't change either way.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1918</Words>
  <Application>Microsoft Office PowerPoint</Application>
  <PresentationFormat>Widescreen</PresentationFormat>
  <Paragraphs>258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AuraGuard</dc:title>
  <dc:subject>PptxGenJS Presentation</dc:subject>
  <dc:creator>Team AuraGuard</dc:creator>
  <cp:lastModifiedBy>Mithun arulnathan</cp:lastModifiedBy>
  <cp:revision>2</cp:revision>
  <dcterms:created xsi:type="dcterms:W3CDTF">2026-08-05T10:53:40Z</dcterms:created>
  <dcterms:modified xsi:type="dcterms:W3CDTF">2026-08-06T03:59:20Z</dcterms:modified>
</cp:coreProperties>
</file>